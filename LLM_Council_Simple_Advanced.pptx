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LLM Council 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0B981"/>
                </a:solidFill>
              </a:defRPr>
            </a:pPr>
            <a:r>
              <a:t>How Multiple AI Models Work Together to Give Better Answers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B3E"/>
                </a:solidFill>
              </a:defRPr>
            </a:pPr>
            <a:r>
              <a:t>The Problem We're Solving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8D4"/>
                </a:solidFill>
              </a:defRPr>
            </a:pPr>
            <a:r>
              <a:t>Why One AI Model Isn't Enough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600"/>
            </a:pPr>
            <a:r>
              <a:t>Every AI model has blind spots and makes mistakes</a:t>
            </a:r>
          </a:p>
          <a:p>
            <a:pPr>
              <a:spcBef>
                <a:spcPts val="300"/>
              </a:spcBef>
              <a:defRPr sz="1600"/>
            </a:pPr>
            <a:r>
              <a:t>Different models are good at different things (math vs writing vs coding)</a:t>
            </a:r>
          </a:p>
          <a:p>
            <a:pPr>
              <a:spcBef>
                <a:spcPts val="300"/>
              </a:spcBef>
              <a:defRPr sz="1600"/>
            </a:pPr>
            <a:r>
              <a:t>Models can't effectively check their own work - they need outside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8D4"/>
                </a:solidFill>
              </a:defRPr>
            </a:pPr>
            <a:r>
              <a:t>Our Solution: Multiple Models Working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600"/>
            </a:pPr>
            <a:r>
              <a:t>Ask 4 different AI models the same question</a:t>
            </a:r>
          </a:p>
          <a:p>
            <a:pPr>
              <a:spcBef>
                <a:spcPts val="300"/>
              </a:spcBef>
              <a:defRPr sz="1600"/>
            </a:pPr>
            <a:r>
              <a:t>Have them review each other's answers (without knowing who wrote what)</a:t>
            </a:r>
          </a:p>
          <a:p>
            <a:pPr>
              <a:spcBef>
                <a:spcPts val="300"/>
              </a:spcBef>
              <a:defRPr sz="1600"/>
            </a:pPr>
            <a:r>
              <a:t>Combine the best ideas from all answers into one final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8D4"/>
                </a:solidFill>
              </a:defRPr>
            </a:pPr>
            <a:r>
              <a:t>Key Technical Choices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9476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600"/>
            </a:pPr>
            <a:r>
              <a:t>Run all models at the same time (not one after another) = much faster</a:t>
            </a:r>
          </a:p>
          <a:p>
            <a:pPr>
              <a:spcBef>
                <a:spcPts val="300"/>
              </a:spcBef>
              <a:defRPr sz="1600"/>
            </a:pPr>
            <a:r>
              <a:t>Use streaming to show progress as each step completes</a:t>
            </a:r>
          </a:p>
          <a:p>
            <a:pPr>
              <a:spcBef>
                <a:spcPts val="300"/>
              </a:spcBef>
              <a:defRPr sz="1600"/>
            </a:pPr>
            <a:r>
              <a:t>Start with simple file storage, can upgrade to database later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B3E"/>
                </a:solidFill>
              </a:defRPr>
            </a:pPr>
            <a:r>
              <a:t>How a User Question Flows Through Our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  <a:latin typeface="Courier New"/>
              </a:defRPr>
            </a:pPr>
            <a:r>
              <a:t>User asks: "What is machine learning?"</a:t>
            </a:r>
          </a:p>
          <a:p>
            <a:r>
              <a:t>        │</a:t>
            </a:r>
          </a:p>
          <a:p>
            <a:r>
              <a:t>        ├─&gt; Save question to file</a:t>
            </a:r>
          </a:p>
          <a:p>
            <a:r>
              <a:t>        │</a:t>
            </a:r>
          </a:p>
          <a:p>
            <a:r>
              <a:t>        ├─&gt; Generate title (runs in background, doesn't slow down answer)</a:t>
            </a:r>
          </a:p>
          <a:p>
            <a:r>
              <a:t>        │</a:t>
            </a:r>
          </a:p>
          <a:p>
            <a:r>
              <a:t>        └─&gt; STEP 1: Ask all 4 AI models at the same time</a:t>
            </a:r>
          </a:p>
          <a:p>
            <a:r>
              <a:t>            │</a:t>
            </a:r>
          </a:p>
          <a:p>
            <a:r>
              <a:t>            ├─&gt; Ask llama-3.3-70b     (Model 1 - starts immediately)</a:t>
            </a:r>
          </a:p>
          <a:p>
            <a:r>
              <a:t>            ├─&gt; Ask llama-3.1-8b      (Model 2 - starts immediately)</a:t>
            </a:r>
          </a:p>
          <a:p>
            <a:r>
              <a:t>            ├─&gt; Ask llama-4-maverick  (Model 3 - starts immediately)</a:t>
            </a:r>
          </a:p>
          <a:p>
            <a:r>
              <a:t>            └─&gt; Ask qwen3-32b         (Model 4 - starts immediately)</a:t>
            </a:r>
          </a:p>
          <a:p>
            <a:r>
              <a:t>            │</a:t>
            </a:r>
          </a:p>
          <a:p>
            <a:r>
              <a:t>            └─&gt; Wait for all to finish (takes ~6 seconds, not 24!)</a:t>
            </a:r>
          </a:p>
          <a:p>
            <a:r>
              <a:t>                │</a:t>
            </a:r>
          </a:p>
          <a:p>
            <a:r>
              <a:t>                └─&gt; Send update to user: "Step 1 done!"</a:t>
            </a:r>
          </a:p>
          <a:p>
            <a:r>
              <a:t>                    │</a:t>
            </a:r>
          </a:p>
          <a:p>
            <a:r>
              <a:t>                    └─&gt; STEP 2: Ask models to rank each other</a:t>
            </a:r>
          </a:p>
          <a:p>
            <a:r>
              <a:t>                        │</a:t>
            </a:r>
          </a:p>
          <a:p>
            <a:r>
              <a:t>                        ├─&gt; Hide who wrote what (use "Answer A, B, C, D")</a:t>
            </a:r>
          </a:p>
          <a:p>
            <a:r>
              <a:t>                        ├─&gt; Ask all 4 models to rank the answers</a:t>
            </a:r>
          </a:p>
          <a:p>
            <a:r>
              <a:t>                        ├─&gt; Calculate average scores</a:t>
            </a:r>
          </a:p>
          <a:p>
            <a:r>
              <a:t>                        │</a:t>
            </a:r>
          </a:p>
          <a:p>
            <a:r>
              <a:t>                        └─&gt; Send update: "Step 2 done!"</a:t>
            </a:r>
          </a:p>
          <a:p>
            <a:r>
              <a:t>                            │</a:t>
            </a:r>
          </a:p>
          <a:p>
            <a:r>
              <a:t>                            └─&gt; STEP 3: Final answer</a:t>
            </a:r>
          </a:p>
          <a:p>
            <a:r>
              <a:t>                                │</a:t>
            </a:r>
          </a:p>
          <a:p>
            <a:r>
              <a:t>                                └─&gt; Chairman model reads everything</a:t>
            </a:r>
          </a:p>
          <a:p>
            <a:r>
              <a:t>                                    └─&gt; Writes one combined answer</a:t>
            </a:r>
          </a:p>
          <a:p>
            <a:r>
              <a:t>                                        └─&gt; Send update: "All done!"</a:t>
            </a:r>
          </a:p>
          <a:p/>
          <a:p>
            <a:r>
              <a:t>Why it's fast: All 4 models run at the same time!</a:t>
            </a:r>
          </a:p>
          <a:p>
            <a:r>
              <a:t>Total time: ~20 seconds (vs 90 seconds if we waited for each one)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B3E"/>
                </a:solidFill>
              </a:defRPr>
            </a:pPr>
            <a:r>
              <a:t>How We Run 4 Models at the Same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8D4"/>
                </a:solidFill>
              </a:defRPr>
            </a:pPr>
            <a:r>
              <a:t>The Normal Way (Slow)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600"/>
            </a:pPr>
            <a:r>
              <a:t>Ask Model 1, wait 6 seconds for answer</a:t>
            </a:r>
          </a:p>
          <a:p>
            <a:pPr>
              <a:spcBef>
                <a:spcPts val="300"/>
              </a:spcBef>
              <a:defRPr sz="1600"/>
            </a:pPr>
            <a:r>
              <a:t>Then ask Model 2, wait 6 more seconds</a:t>
            </a:r>
          </a:p>
          <a:p>
            <a:pPr>
              <a:spcBef>
                <a:spcPts val="300"/>
              </a:spcBef>
              <a:defRPr sz="1600"/>
            </a:pPr>
            <a:r>
              <a:t>Then ask Model 3, wait 6 more seconds</a:t>
            </a:r>
          </a:p>
          <a:p>
            <a:pPr>
              <a:spcBef>
                <a:spcPts val="300"/>
              </a:spcBef>
              <a:defRPr sz="1600"/>
            </a:pPr>
            <a:r>
              <a:t>Then ask Model 4, wait 6 more seconds</a:t>
            </a:r>
          </a:p>
          <a:p>
            <a:pPr>
              <a:spcBef>
                <a:spcPts val="300"/>
              </a:spcBef>
              <a:defRPr sz="1600"/>
            </a:pPr>
            <a:r>
              <a:t>Total: 24 seconds just waiting!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8D4"/>
                </a:solidFill>
              </a:defRPr>
            </a:pPr>
            <a:r>
              <a:t>Our Way: Async (Fast)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600"/>
            </a:pPr>
            <a:r>
              <a:t>Start all 4 questions at exactly the same time</a:t>
            </a:r>
          </a:p>
          <a:p>
            <a:pPr>
              <a:spcBef>
                <a:spcPts val="300"/>
              </a:spcBef>
              <a:defRPr sz="1600"/>
            </a:pPr>
            <a:r>
              <a:t>Python switches between them while waiting for answers</a:t>
            </a:r>
          </a:p>
          <a:p>
            <a:pPr>
              <a:spcBef>
                <a:spcPts val="300"/>
              </a:spcBef>
              <a:defRPr sz="1600"/>
            </a:pPr>
            <a:r>
              <a:t>When any model finishes, grab its answer</a:t>
            </a:r>
          </a:p>
          <a:p>
            <a:pPr>
              <a:spcBef>
                <a:spcPts val="300"/>
              </a:spcBef>
              <a:defRPr sz="1600"/>
            </a:pPr>
            <a:r>
              <a:t>Total: 6 seconds (the longest one) instead of 24!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297680"/>
            <a:ext cx="8412480" cy="2560320"/>
          </a:xfrm>
          <a:prstGeom prst="rect">
            <a:avLst/>
          </a:prstGeom>
          <a:solidFill>
            <a:srgbClr val="282C34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BB2BF"/>
                </a:solidFill>
                <a:latin typeface="Consolas"/>
              </a:defRPr>
            </a:pPr>
            <a:r>
              <a:t># This is the key function that makes it fast</a:t>
            </a:r>
          </a:p>
          <a:p>
            <a:r>
              <a:t>async def query_models_parallel(models, messages):</a:t>
            </a:r>
          </a:p>
          <a:p>
            <a:r>
              <a:t>    # Start all 4 questions at once (don't wait!)</a:t>
            </a:r>
          </a:p>
          <a:p>
            <a:r>
              <a:t>    tasks = [query_model(m, messages) for m in models]</a:t>
            </a:r>
          </a:p>
          <a:p/>
          <a:p>
            <a:r>
              <a:t>    # Wait for ALL of them to finish</a:t>
            </a:r>
          </a:p>
          <a:p>
            <a:r>
              <a:t>    # (Python handles switching between them automatically)</a:t>
            </a:r>
          </a:p>
          <a:p>
            <a:r>
              <a:t>    responses = await asyncio.gather(*tasks)</a:t>
            </a:r>
          </a:p>
          <a:p/>
          <a:p>
            <a:r>
              <a:t>    # Match each model with its answer</a:t>
            </a:r>
          </a:p>
          <a:p>
            <a:r>
              <a:t>    return dict(zip(models, responses))</a:t>
            </a:r>
          </a:p>
          <a:p/>
          <a:p>
            <a:r>
              <a:t># Why async/await?</a:t>
            </a:r>
          </a:p>
          <a:p>
            <a:r>
              <a:t># - "async" means "this function can pause and resume"</a:t>
            </a:r>
          </a:p>
          <a:p>
            <a:r>
              <a:t># - "await" means "pause here while waiting, do other work"</a:t>
            </a:r>
          </a:p>
          <a:p>
            <a:r>
              <a:t># - Result: All 4 models run at the same time!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B3E"/>
                </a:solidFill>
              </a:defRPr>
            </a:pPr>
            <a:r>
              <a:t>Step 2: How We Get Honest Reviews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8D4"/>
                </a:solidFill>
              </a:defRPr>
            </a:pPr>
            <a:r>
              <a:t>The Problem: Models Can Play Favorites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600"/>
            </a:pPr>
            <a:r>
              <a:t>If llama-3.3 sees an answer from another Llama model, it might rank it higher</a:t>
            </a:r>
          </a:p>
          <a:p>
            <a:pPr>
              <a:spcBef>
                <a:spcPts val="300"/>
              </a:spcBef>
              <a:defRPr sz="1600"/>
            </a:pPr>
            <a:r>
              <a:t>Like how you might favor your friend's work over a stranger's</a:t>
            </a:r>
          </a:p>
          <a:p>
            <a:pPr>
              <a:spcBef>
                <a:spcPts val="300"/>
              </a:spcBef>
              <a:defRPr sz="1600"/>
            </a:pPr>
            <a:r>
              <a:t>We need objective reviews based only on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8D4"/>
                </a:solidFill>
              </a:defRPr>
            </a:pPr>
            <a:r>
              <a:t>Our Solution: Hide Who Wrote What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600"/>
            </a:pPr>
            <a:r>
              <a:t>Rename all answers to "Answer A", "Answer B", "Answer C", "Answer D"</a:t>
            </a:r>
          </a:p>
          <a:p>
            <a:pPr>
              <a:spcBef>
                <a:spcPts val="300"/>
              </a:spcBef>
              <a:defRPr sz="1600"/>
            </a:pPr>
            <a:r>
              <a:t>Keep a secret list of which model wrote which answer</a:t>
            </a:r>
          </a:p>
          <a:p>
            <a:pPr>
              <a:spcBef>
                <a:spcPts val="300"/>
              </a:spcBef>
              <a:defRPr sz="1600"/>
            </a:pPr>
            <a:r>
              <a:t>Ask each model: "Rank these 4 answers from best to worst"</a:t>
            </a:r>
          </a:p>
          <a:p>
            <a:pPr>
              <a:spcBef>
                <a:spcPts val="300"/>
              </a:spcBef>
              <a:defRPr sz="1600"/>
            </a:pPr>
            <a:r>
              <a:t>After ranking, reveal who wrote what (only for display to user)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8D4"/>
                </a:solidFill>
              </a:defRPr>
            </a:pPr>
            <a:r>
              <a:t>Calculating the Winner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9476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600"/>
            </a:pPr>
            <a:r>
              <a:t>If Answer B gets ranks: 1st, 2nd, 1st → average = 1.33</a:t>
            </a:r>
          </a:p>
          <a:p>
            <a:pPr>
              <a:spcBef>
                <a:spcPts val="300"/>
              </a:spcBef>
              <a:defRPr sz="1600"/>
            </a:pPr>
            <a:r>
              <a:t>If Answer A gets ranks: 2nd, 1st, 3rd → average = 2.00</a:t>
            </a:r>
          </a:p>
          <a:p>
            <a:pPr>
              <a:spcBef>
                <a:spcPts val="300"/>
              </a:spcBef>
              <a:defRPr sz="1600"/>
            </a:pPr>
            <a:r>
              <a:t>Lower average = better answer (Answer B wins!)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297680"/>
            <a:ext cx="8412480" cy="2560320"/>
          </a:xfrm>
          <a:prstGeom prst="rect">
            <a:avLst/>
          </a:prstGeom>
          <a:solidFill>
            <a:srgbClr val="282C34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BB2BF"/>
                </a:solidFill>
                <a:latin typeface="Consolas"/>
              </a:defRPr>
            </a:pPr>
            <a:r>
              <a:t># Step 1: Hide the authors</a:t>
            </a:r>
          </a:p>
          <a:p>
            <a:r>
              <a:t>labels = ["Answer A", "Answer B", "Answer C", "Answer D"]</a:t>
            </a:r>
          </a:p>
          <a:p>
            <a:r>
              <a:t>anonymous_answers = {</a:t>
            </a:r>
          </a:p>
          <a:p>
            <a:r>
              <a:t>    "Answer A": "Machine learning is...",</a:t>
            </a:r>
          </a:p>
          <a:p>
            <a:r>
              <a:t>    "Answer B": "ML is a type of...",</a:t>
            </a:r>
          </a:p>
          <a:p>
            <a:r>
              <a:t>    # ... etc</a:t>
            </a:r>
          </a:p>
          <a:p>
            <a:r>
              <a:t>}</a:t>
            </a:r>
          </a:p>
          <a:p/>
          <a:p>
            <a:r>
              <a:t># Step 2: Keep a secret map (we'll need it later)</a:t>
            </a:r>
          </a:p>
          <a:p>
            <a:r>
              <a:t>secret_map = {</a:t>
            </a:r>
          </a:p>
          <a:p>
            <a:r>
              <a:t>    "Answer A": "llama-3.3-70b",</a:t>
            </a:r>
          </a:p>
          <a:p>
            <a:r>
              <a:t>    "Answer B": "llama-3.1-8b",</a:t>
            </a:r>
          </a:p>
          <a:p>
            <a:r>
              <a:t>    # ... etc</a:t>
            </a:r>
          </a:p>
          <a:p>
            <a:r>
              <a:t>}</a:t>
            </a:r>
          </a:p>
          <a:p/>
          <a:p>
            <a:r>
              <a:t># Step 3: Ask each model to rank the anonymous answers</a:t>
            </a:r>
          </a:p>
          <a:p>
            <a:r>
              <a:t># They see: "Rank Answer A, B, C, D from best to worst"</a:t>
            </a:r>
          </a:p>
          <a:p>
            <a:r>
              <a:t># They don't know who wrote them!</a:t>
            </a:r>
          </a:p>
          <a:p/>
          <a:p>
            <a:r>
              <a:t># Step 4: Calculate average ranks</a:t>
            </a:r>
          </a:p>
          <a:p>
            <a:r>
              <a:t># Lower number = better answer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B3E"/>
                </a:solidFill>
              </a:defRPr>
            </a:pPr>
            <a:r>
              <a:t>What Happens When Models Don't Follow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8D4"/>
                </a:solidFill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600"/>
            </a:pPr>
            <a:r>
              <a:t>We ask models to rank like: "1. Answer A, 2. Answer B, 3. Answer C"</a:t>
            </a:r>
          </a:p>
          <a:p>
            <a:pPr>
              <a:spcBef>
                <a:spcPts val="300"/>
              </a:spcBef>
              <a:defRPr sz="1600"/>
            </a:pPr>
            <a:r>
              <a:t>But sometimes they write: "I think Answer B is best, then A, then C"</a:t>
            </a:r>
          </a:p>
          <a:p>
            <a:pPr>
              <a:spcBef>
                <a:spcPts val="300"/>
              </a:spcBef>
              <a:defRPr sz="1600"/>
            </a:pPr>
            <a:r>
              <a:t>Or use arrows: "Answer B &gt; Answer A &gt; Answer C"</a:t>
            </a:r>
          </a:p>
          <a:p>
            <a:pPr>
              <a:spcBef>
                <a:spcPts val="300"/>
              </a:spcBef>
              <a:defRPr sz="1600"/>
            </a:pPr>
            <a:r>
              <a:t>We need to handle all these formats!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8D4"/>
                </a:solidFill>
              </a:defRPr>
            </a:pPr>
            <a:r>
              <a:t>Our Smart Parser (3 Backup Plans)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600"/>
            </a:pPr>
            <a:r>
              <a:t>Plan A: Look for "FINAL RANKING:" and extract numbered list</a:t>
            </a:r>
          </a:p>
          <a:p>
            <a:pPr>
              <a:spcBef>
                <a:spcPts val="300"/>
              </a:spcBef>
              <a:defRPr sz="1600"/>
            </a:pPr>
            <a:r>
              <a:t>Plan B: Find all "Answer X" mentions in order they appear</a:t>
            </a:r>
          </a:p>
          <a:p>
            <a:pPr>
              <a:spcBef>
                <a:spcPts val="300"/>
              </a:spcBef>
              <a:defRPr sz="1600"/>
            </a:pPr>
            <a:r>
              <a:t>Plan C: Remove duplicates, keep first mention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8D4"/>
                </a:solidFill>
              </a:defRPr>
            </a:pPr>
            <a:r>
              <a:t>When a Model Completely Fails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9476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600"/>
            </a:pPr>
            <a:r>
              <a:t>If one model crashes or times out, don't crash everything!</a:t>
            </a:r>
          </a:p>
          <a:p>
            <a:pPr>
              <a:spcBef>
                <a:spcPts val="300"/>
              </a:spcBef>
              <a:defRPr sz="1600"/>
            </a:pPr>
            <a:r>
              <a:t>Just use the 3 models that worked</a:t>
            </a:r>
          </a:p>
          <a:p>
            <a:pPr>
              <a:spcBef>
                <a:spcPts val="300"/>
              </a:spcBef>
              <a:defRPr sz="1600"/>
            </a:pPr>
            <a:r>
              <a:t>Keep going - partial answer is better than no answer</a:t>
            </a:r>
          </a:p>
          <a:p>
            <a:pPr>
              <a:spcBef>
                <a:spcPts val="300"/>
              </a:spcBef>
              <a:defRPr sz="1600"/>
            </a:pPr>
            <a:r>
              <a:t>Log the error for debugging, but don't show 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297680"/>
            <a:ext cx="8412480" cy="2560320"/>
          </a:xfrm>
          <a:prstGeom prst="rect">
            <a:avLst/>
          </a:prstGeom>
          <a:solidFill>
            <a:srgbClr val="282C34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BB2BF"/>
                </a:solidFill>
                <a:latin typeface="Consolas"/>
              </a:defRPr>
            </a:pPr>
            <a:r>
              <a:t># Try to parse ranking from model's text</a:t>
            </a:r>
          </a:p>
          <a:p>
            <a:r>
              <a:t>def parse_ranking(text):</a:t>
            </a:r>
          </a:p>
          <a:p>
            <a:r>
              <a:t>    # Method 1: Look for structured section</a:t>
            </a:r>
          </a:p>
          <a:p>
            <a:r>
              <a:t>    if "FINAL RANKING:" in text:</a:t>
            </a:r>
          </a:p>
          <a:p>
            <a:r>
              <a:t>        # Extract the part after "FINAL RANKING:"</a:t>
            </a:r>
          </a:p>
          <a:p>
            <a:r>
              <a:t>        ranking_part = text.split("FINAL RANKING:")[1]</a:t>
            </a:r>
          </a:p>
          <a:p>
            <a:r>
              <a:t>        # Find patterns like "1. Answer A"</a:t>
            </a:r>
          </a:p>
          <a:p>
            <a:r>
              <a:t>        matches = find_numbered_items(ranking_part)</a:t>
            </a:r>
          </a:p>
          <a:p>
            <a:r>
              <a:t>        if matches:</a:t>
            </a:r>
          </a:p>
          <a:p>
            <a:r>
              <a:t>            return matches  # Success!</a:t>
            </a:r>
          </a:p>
          <a:p/>
          <a:p>
            <a:r>
              <a:t>    # Method 2: Find all "Answer X" in order</a:t>
            </a:r>
          </a:p>
          <a:p>
            <a:r>
              <a:t>    all_answers = find_all_answer_labels(text)</a:t>
            </a:r>
          </a:p>
          <a:p/>
          <a:p>
            <a:r>
              <a:t>    # Method 3: Remove duplicates, keep order</a:t>
            </a:r>
          </a:p>
          <a:p>
            <a:r>
              <a:t>    unique_answers = remove_duplicates(all_answers)</a:t>
            </a:r>
          </a:p>
          <a:p/>
          <a:p>
            <a:r>
              <a:t>    return unique_answers  # Return best guess</a:t>
            </a:r>
          </a:p>
          <a:p/>
          <a:p>
            <a:r>
              <a:t># If parsing fails, we get empty list</a:t>
            </a:r>
          </a:p>
          <a:p>
            <a:r>
              <a:t># That's okay - we use the answers we did get!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B3E"/>
                </a:solidFill>
              </a:defRPr>
            </a:pPr>
            <a:r>
              <a:t>Streaming: Showing Progress in Real-Time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8D4"/>
                </a:solidFill>
              </a:defRPr>
            </a:pPr>
            <a:r>
              <a:t>Old Way: Wait for Everything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600"/>
            </a:pPr>
            <a:r>
              <a:t>User asks question → sees loading spinner for 20 seconds</a:t>
            </a:r>
          </a:p>
          <a:p>
            <a:pPr>
              <a:spcBef>
                <a:spcPts val="300"/>
              </a:spcBef>
              <a:defRPr sz="1600"/>
            </a:pPr>
            <a:r>
              <a:t>Everything happens behind the scenes</a:t>
            </a:r>
          </a:p>
          <a:p>
            <a:pPr>
              <a:spcBef>
                <a:spcPts val="300"/>
              </a:spcBef>
              <a:defRPr sz="1600"/>
            </a:pPr>
            <a:r>
              <a:t>Finally, all at once: "Here's your answer!"</a:t>
            </a:r>
          </a:p>
          <a:p>
            <a:pPr>
              <a:spcBef>
                <a:spcPts val="300"/>
              </a:spcBef>
              <a:defRPr sz="1600"/>
            </a:pPr>
            <a:r>
              <a:t>Problem: User has no idea what's happening or if it's stuck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8D4"/>
                </a:solidFill>
              </a:defRPr>
            </a:pPr>
            <a:r>
              <a:t>New Way: Stream Updates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600"/>
            </a:pPr>
            <a:r>
              <a:t>User asks question</a:t>
            </a:r>
          </a:p>
          <a:p>
            <a:pPr>
              <a:spcBef>
                <a:spcPts val="300"/>
              </a:spcBef>
              <a:defRPr sz="1600"/>
            </a:pPr>
            <a:r>
              <a:t>→ "Starting Step 1..." (immediate feedback!)</a:t>
            </a:r>
          </a:p>
          <a:p>
            <a:pPr>
              <a:spcBef>
                <a:spcPts val="300"/>
              </a:spcBef>
              <a:defRPr sz="1600"/>
            </a:pPr>
            <a:r>
              <a:t>→ After 6 sec: "Step 1 done! Here are the 4 answers"</a:t>
            </a:r>
          </a:p>
          <a:p>
            <a:pPr>
              <a:spcBef>
                <a:spcPts val="300"/>
              </a:spcBef>
              <a:defRPr sz="1600"/>
            </a:pPr>
            <a:r>
              <a:t>→ "Starting Step 2..."</a:t>
            </a:r>
          </a:p>
          <a:p>
            <a:pPr>
              <a:spcBef>
                <a:spcPts val="300"/>
              </a:spcBef>
              <a:defRPr sz="1600"/>
            </a:pPr>
            <a:r>
              <a:t>→ After 6 sec: "Step 2 done! Here are the rankings"</a:t>
            </a:r>
          </a:p>
          <a:p>
            <a:pPr>
              <a:spcBef>
                <a:spcPts val="300"/>
              </a:spcBef>
              <a:defRPr sz="1600"/>
            </a:pPr>
            <a:r>
              <a:t>→ "Starting Step 3..."</a:t>
            </a:r>
          </a:p>
          <a:p>
            <a:pPr>
              <a:spcBef>
                <a:spcPts val="300"/>
              </a:spcBef>
              <a:defRPr sz="1600"/>
            </a:pPr>
            <a:r>
              <a:t>→ After 4 sec: "All done! Here's the final answer"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8D4"/>
                </a:solidFill>
              </a:defRPr>
            </a:pPr>
            <a:r>
              <a:t>Technology: Server-Sent Events (SSE)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9476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600"/>
            </a:pPr>
            <a:r>
              <a:t>Simpler than WebSockets (one-way communication is enough)</a:t>
            </a:r>
          </a:p>
          <a:p>
            <a:pPr>
              <a:spcBef>
                <a:spcPts val="300"/>
              </a:spcBef>
              <a:defRPr sz="1600"/>
            </a:pPr>
            <a:r>
              <a:t>Works with regular HTTP (no special setup)</a:t>
            </a:r>
          </a:p>
          <a:p>
            <a:pPr>
              <a:spcBef>
                <a:spcPts val="300"/>
              </a:spcBef>
              <a:defRPr sz="1600"/>
            </a:pPr>
            <a:r>
              <a:t>Browser receives updates automatically as they happen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297680"/>
            <a:ext cx="8412480" cy="2560320"/>
          </a:xfrm>
          <a:prstGeom prst="rect">
            <a:avLst/>
          </a:prstGeom>
          <a:solidFill>
            <a:srgbClr val="282C34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BB2BF"/>
                </a:solidFill>
                <a:latin typeface="Consolas"/>
              </a:defRPr>
            </a:pPr>
            <a:r>
              <a:t># This function sends updates as they happen</a:t>
            </a:r>
          </a:p>
          <a:p>
            <a:r>
              <a:t>async def stream_answer(question):</a:t>
            </a:r>
          </a:p>
          <a:p>
            <a:r>
              <a:t>    # Tell browser: "Step 1 starting"</a:t>
            </a:r>
          </a:p>
          <a:p>
            <a:r>
              <a:t>    send_update("step1_start")</a:t>
            </a:r>
          </a:p>
          <a:p/>
          <a:p>
            <a:r>
              <a:t>    # Do Step 1 work</a:t>
            </a:r>
          </a:p>
          <a:p>
            <a:r>
              <a:t>    step1_results = await ask_all_models(question)</a:t>
            </a:r>
          </a:p>
          <a:p/>
          <a:p>
            <a:r>
              <a:t>    # Tell browser: "Step 1 done, here's the data"</a:t>
            </a:r>
          </a:p>
          <a:p>
            <a:r>
              <a:t>    send_update("step1_complete", data=step1_results)</a:t>
            </a:r>
          </a:p>
          <a:p/>
          <a:p>
            <a:r>
              <a:t>    # Continue with Step 2...</a:t>
            </a:r>
          </a:p>
          <a:p>
            <a:r>
              <a:t>    send_update("step2_start")</a:t>
            </a:r>
          </a:p>
          <a:p>
            <a:r>
              <a:t>    step2_results = await rank_answers(step1_results)</a:t>
            </a:r>
          </a:p>
          <a:p>
            <a:r>
              <a:t>    send_update("step2_complete", data=step2_results)</a:t>
            </a:r>
          </a:p>
          <a:p/>
          <a:p>
            <a:r>
              <a:t>    # Step 3...</a:t>
            </a:r>
          </a:p>
          <a:p>
            <a:r>
              <a:t>    send_update("step3_start")</a:t>
            </a:r>
          </a:p>
          <a:p>
            <a:r>
              <a:t>    final_answer = await synthesize(step1, step2)</a:t>
            </a:r>
          </a:p>
          <a:p>
            <a:r>
              <a:t>    send_update("step3_complete", data=final_answer)</a:t>
            </a:r>
          </a:p>
          <a:p/>
          <a:p>
            <a:r>
              <a:t>    # All done!</a:t>
            </a:r>
          </a:p>
          <a:p>
            <a:r>
              <a:t>    send_update("complete")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B3E"/>
                </a:solidFill>
              </a:defRPr>
            </a:pPr>
            <a:r>
              <a:t>Data Storage: Simple Now, Powerful Later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8D4"/>
                </a:solidFill>
              </a:defRPr>
            </a:pPr>
            <a:r>
              <a:t>Current Approach: JSON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600"/>
            </a:pPr>
            <a:r>
              <a:t>Each conversation = one text file on disk</a:t>
            </a:r>
          </a:p>
          <a:p>
            <a:pPr>
              <a:spcBef>
                <a:spcPts val="300"/>
              </a:spcBef>
              <a:defRPr sz="1600"/>
            </a:pPr>
            <a:r>
              <a:t>Good: Super simple, no setup needed, you can read the files yourself</a:t>
            </a:r>
          </a:p>
          <a:p>
            <a:pPr>
              <a:spcBef>
                <a:spcPts val="300"/>
              </a:spcBef>
              <a:defRPr sz="1600"/>
            </a:pPr>
            <a:r>
              <a:t>Bad: Slow for lots of conversations, can't search easily, tricky with multiple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8D4"/>
                </a:solidFill>
              </a:defRPr>
            </a:pPr>
            <a:r>
              <a:t>Future Approach: PostgreSQL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600"/>
            </a:pPr>
            <a:r>
              <a:t>Separate tables: conversations, messages, answers, rankings</a:t>
            </a:r>
          </a:p>
          <a:p>
            <a:pPr>
              <a:spcBef>
                <a:spcPts val="300"/>
              </a:spcBef>
              <a:defRPr sz="1600"/>
            </a:pPr>
            <a:r>
              <a:t>Fast lookups with indexes (like a book's index)</a:t>
            </a:r>
          </a:p>
          <a:p>
            <a:pPr>
              <a:spcBef>
                <a:spcPts val="300"/>
              </a:spcBef>
              <a:defRPr sz="1600"/>
            </a:pPr>
            <a:r>
              <a:t>Can search conversations: "Find all questions about Python"</a:t>
            </a:r>
          </a:p>
          <a:p>
            <a:pPr>
              <a:spcBef>
                <a:spcPts val="300"/>
              </a:spcBef>
              <a:defRPr sz="1600"/>
            </a:pPr>
            <a:r>
              <a:t>Handles multiple users at the same time safely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8D4"/>
                </a:solidFill>
              </a:defRPr>
            </a:pPr>
            <a:r>
              <a:t>How to Upgrade Later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9476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600"/>
            </a:pPr>
            <a:r>
              <a:t>Step 1: Create a "storage interface" (like a contract)</a:t>
            </a:r>
          </a:p>
          <a:p>
            <a:pPr>
              <a:spcBef>
                <a:spcPts val="300"/>
              </a:spcBef>
              <a:defRPr sz="1600"/>
            </a:pPr>
            <a:r>
              <a:t>Step 2: Build both file version and database version</a:t>
            </a:r>
          </a:p>
          <a:p>
            <a:pPr>
              <a:spcBef>
                <a:spcPts val="300"/>
              </a:spcBef>
              <a:defRPr sz="1600"/>
            </a:pPr>
            <a:r>
              <a:t>Step 3: Add a switch: use files OR database</a:t>
            </a:r>
          </a:p>
          <a:p>
            <a:pPr>
              <a:spcBef>
                <a:spcPts val="300"/>
              </a:spcBef>
              <a:defRPr sz="1600"/>
            </a:pPr>
            <a:r>
              <a:t>Step 4: Move old files into database</a:t>
            </a:r>
          </a:p>
          <a:p>
            <a:pPr>
              <a:spcBef>
                <a:spcPts val="300"/>
              </a:spcBef>
              <a:defRPr sz="1600"/>
            </a:pPr>
            <a:r>
              <a:t>Step 5: Turn off file version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B3E"/>
                </a:solidFill>
              </a:defRPr>
            </a:pPr>
            <a:r>
              <a:t>Performance: How We Made It 4× Faster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8D4"/>
                </a:solidFill>
              </a:defRPr>
            </a:pPr>
            <a:r>
              <a:t>Bottleneck #1: Waiting for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600"/>
            </a:pPr>
            <a:r>
              <a:t>Problem: Each model takes 6 seconds</a:t>
            </a:r>
          </a:p>
          <a:p>
            <a:pPr>
              <a:spcBef>
                <a:spcPts val="300"/>
              </a:spcBef>
              <a:defRPr sz="1600"/>
            </a:pPr>
            <a:r>
              <a:t>Old way: 6 + 6 + 6 + 6 = 24 seconds</a:t>
            </a:r>
          </a:p>
          <a:p>
            <a:pPr>
              <a:spcBef>
                <a:spcPts val="300"/>
              </a:spcBef>
              <a:defRPr sz="1600"/>
            </a:pPr>
            <a:r>
              <a:t>Solution: Run all 4 at the same time</a:t>
            </a:r>
          </a:p>
          <a:p>
            <a:pPr>
              <a:spcBef>
                <a:spcPts val="300"/>
              </a:spcBef>
              <a:defRPr sz="1600"/>
            </a:pPr>
            <a:r>
              <a:t>Result: Only 6 seconds! (4× faster)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8D4"/>
                </a:solidFill>
              </a:defRPr>
            </a:pPr>
            <a:r>
              <a:t>Bottleneck #2: Reading/Writing 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600"/>
            </a:pPr>
            <a:r>
              <a:t>Problem: We read and write the conversation file 3 times per question</a:t>
            </a:r>
          </a:p>
          <a:p>
            <a:pPr>
              <a:spcBef>
                <a:spcPts val="300"/>
              </a:spcBef>
              <a:defRPr sz="1600"/>
            </a:pPr>
            <a:r>
              <a:t>Solution: Read once at start, write once at end</a:t>
            </a:r>
          </a:p>
          <a:p>
            <a:pPr>
              <a:spcBef>
                <a:spcPts val="300"/>
              </a:spcBef>
              <a:defRPr sz="1600"/>
            </a:pPr>
            <a:r>
              <a:t>Result: 3× fewer disk operations = faster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8D4"/>
                </a:solidFill>
              </a:defRPr>
            </a:pPr>
            <a:r>
              <a:t>Bottleneck #3: Title Generation Blocking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9476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600"/>
            </a:pPr>
            <a:r>
              <a:t>Problem: Generate title, THEN start Step 1 (wastes time)</a:t>
            </a:r>
          </a:p>
          <a:p>
            <a:pPr>
              <a:spcBef>
                <a:spcPts val="300"/>
              </a:spcBef>
              <a:defRPr sz="1600"/>
            </a:pPr>
            <a:r>
              <a:t>Solution: Generate title IN BACKGROUND while Step 1 runs</a:t>
            </a:r>
          </a:p>
          <a:p>
            <a:pPr>
              <a:spcBef>
                <a:spcPts val="300"/>
              </a:spcBef>
              <a:defRPr sz="1600"/>
            </a:pPr>
            <a:r>
              <a:t>Result: Saves 1-2 seconds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8D4"/>
                </a:solidFill>
              </a:defRPr>
            </a:pPr>
            <a:r>
              <a:t>What We Could Do 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2920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600"/>
            </a:pPr>
            <a:r>
              <a:t>Cache common questions (if 100 people ask "What is AI?", answer once)</a:t>
            </a:r>
          </a:p>
          <a:p>
            <a:pPr>
              <a:spcBef>
                <a:spcPts val="300"/>
              </a:spcBef>
              <a:defRPr sz="1600"/>
            </a:pPr>
            <a:r>
              <a:t>Reuse network connections (don't reconnect every time)</a:t>
            </a:r>
          </a:p>
          <a:p>
            <a:pPr>
              <a:spcBef>
                <a:spcPts val="300"/>
              </a:spcBef>
              <a:defRPr sz="1600"/>
            </a:pPr>
            <a:r>
              <a:t>Use multiple servers (one gets too busy? Use another)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297680"/>
            <a:ext cx="8412480" cy="2560320"/>
          </a:xfrm>
          <a:prstGeom prst="rect">
            <a:avLst/>
          </a:prstGeom>
          <a:solidFill>
            <a:srgbClr val="282C34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BB2BF"/>
                </a:solidFill>
                <a:latin typeface="Consolas"/>
              </a:defRPr>
            </a:pPr>
            <a:r>
              <a:t># Smart file handling - read once, write once</a:t>
            </a:r>
          </a:p>
          <a:p>
            <a:r>
              <a:t>class ConversationManager:</a:t>
            </a:r>
          </a:p>
          <a:p>
            <a:r>
              <a:t>    def __enter__(self):</a:t>
            </a:r>
          </a:p>
          <a:p>
            <a:r>
              <a:t>        # Read file ONCE when starting</a:t>
            </a:r>
          </a:p>
          <a:p>
            <a:r>
              <a:t>        self.data = read_from_file(self.id)</a:t>
            </a:r>
          </a:p>
          <a:p>
            <a:r>
              <a:t>        return self</a:t>
            </a:r>
          </a:p>
          <a:p/>
          <a:p>
            <a:r>
              <a:t>    def __exit__(self):</a:t>
            </a:r>
          </a:p>
          <a:p>
            <a:r>
              <a:t>        # Write file ONCE when done</a:t>
            </a:r>
          </a:p>
          <a:p>
            <a:r>
              <a:t>        write_to_file(self.id, self.data)</a:t>
            </a:r>
          </a:p>
          <a:p/>
          <a:p>
            <a:r>
              <a:t>    def add_message(self, message):</a:t>
            </a:r>
          </a:p>
          <a:p>
            <a:r>
              <a:t>        # Just modify in memory, don't touch disk yet</a:t>
            </a:r>
          </a:p>
          <a:p>
            <a:r>
              <a:t>        self.data['messages'].append(message)</a:t>
            </a:r>
          </a:p>
          <a:p/>
          <a:p>
            <a:r>
              <a:t># Usage:</a:t>
            </a:r>
          </a:p>
          <a:p>
            <a:r>
              <a:t>with ConversationManager(id) as conv:</a:t>
            </a:r>
          </a:p>
          <a:p>
            <a:r>
              <a:t>    conv.add_user_message("What is AI?")</a:t>
            </a:r>
          </a:p>
          <a:p>
            <a:r>
              <a:t>    # ... do all the work ...</a:t>
            </a:r>
          </a:p>
          <a:p>
            <a:r>
              <a:t>    conv.add_ai_response(answer)</a:t>
            </a:r>
          </a:p>
          <a:p>
            <a:r>
              <a:t>    # File written automatically on exit</a:t>
            </a:r>
          </a:p>
          <a:p/>
          <a:p>
            <a:r>
              <a:t># Before: Read file 3 times, Write file 3 times</a:t>
            </a:r>
          </a:p>
          <a:p>
            <a:r>
              <a:t># After: Read file 1 time, Write file 1 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B3E"/>
                </a:solidFill>
              </a:defRPr>
            </a:pPr>
            <a:r>
              <a:t>Error Handling: When Things Go Wrong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8D4"/>
                </a:solidFill>
              </a:defRPr>
            </a:pPr>
            <a:r>
              <a:t>Three Layers of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600"/>
            </a:pPr>
            <a:r>
              <a:t>Layer 1 (Talking to AI): If one model fails, return "failed" not "crash"</a:t>
            </a:r>
          </a:p>
          <a:p>
            <a:pPr>
              <a:spcBef>
                <a:spcPts val="300"/>
              </a:spcBef>
              <a:defRPr sz="1600"/>
            </a:pPr>
            <a:r>
              <a:t>Layer 2 (Our Code): Skip failed models, use the ones that worked</a:t>
            </a:r>
          </a:p>
          <a:p>
            <a:pPr>
              <a:spcBef>
                <a:spcPts val="300"/>
              </a:spcBef>
              <a:defRPr sz="1600"/>
            </a:pPr>
            <a:r>
              <a:t>Layer 3 (User-Facing): Never show errors to user, show friendly 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8D4"/>
                </a:solidFill>
              </a:defRPr>
            </a:pPr>
            <a:r>
              <a:t>Smart Retrying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600"/>
            </a:pPr>
            <a:r>
              <a:t>If we hit rate limit: Wait and try again (don't give up immediately)</a:t>
            </a:r>
          </a:p>
          <a:p>
            <a:pPr>
              <a:spcBef>
                <a:spcPts val="300"/>
              </a:spcBef>
              <a:defRPr sz="1600"/>
            </a:pPr>
            <a:r>
              <a:t>If server is down: Try again after waiting a bit</a:t>
            </a:r>
          </a:p>
          <a:p>
            <a:pPr>
              <a:spcBef>
                <a:spcPts val="300"/>
              </a:spcBef>
              <a:defRPr sz="1600"/>
            </a:pPr>
            <a:r>
              <a:t>If request is invalid: Don't retry (it won't work anyway)</a:t>
            </a:r>
          </a:p>
          <a:p>
            <a:pPr>
              <a:spcBef>
                <a:spcPts val="300"/>
              </a:spcBef>
              <a:defRPr sz="1600"/>
            </a:pPr>
            <a:r>
              <a:t>Wait longer each time: 2 sec, then 4 sec, then 8 sec (exponential backoff)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8D4"/>
                </a:solidFill>
              </a:defRPr>
            </a:pPr>
            <a:r>
              <a:t>Circuit Breaker Pattern (Future)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9476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600"/>
            </a:pPr>
            <a:r>
              <a:t>If one model keeps failing, stop asking it for a while</a:t>
            </a:r>
          </a:p>
          <a:p>
            <a:pPr>
              <a:spcBef>
                <a:spcPts val="300"/>
              </a:spcBef>
              <a:defRPr sz="1600"/>
            </a:pPr>
            <a:r>
              <a:t>After 1 minute, try again (maybe it's fixed?)</a:t>
            </a:r>
          </a:p>
          <a:p>
            <a:pPr>
              <a:spcBef>
                <a:spcPts val="300"/>
              </a:spcBef>
              <a:defRPr sz="1600"/>
            </a:pPr>
            <a:r>
              <a:t>If it works, great! If not, wait another minute</a:t>
            </a:r>
          </a:p>
          <a:p>
            <a:pPr>
              <a:spcBef>
                <a:spcPts val="300"/>
              </a:spcBef>
              <a:defRPr sz="1600"/>
            </a:pPr>
            <a:r>
              <a:t>Prevents wasting time on broken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297680"/>
            <a:ext cx="8412480" cy="2560320"/>
          </a:xfrm>
          <a:prstGeom prst="rect">
            <a:avLst/>
          </a:prstGeom>
          <a:solidFill>
            <a:srgbClr val="282C34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BB2BF"/>
                </a:solidFill>
                <a:latin typeface="Consolas"/>
              </a:defRPr>
            </a:pPr>
            <a:r>
              <a:t># Smart retry logic</a:t>
            </a:r>
          </a:p>
          <a:p>
            <a:r>
              <a:t>async def ask_model_with_retry(model, question, max_tries=3):</a:t>
            </a:r>
          </a:p>
          <a:p>
            <a:r>
              <a:t>    for attempt in range(max_tries):</a:t>
            </a:r>
          </a:p>
          <a:p>
            <a:r>
              <a:t>        try:</a:t>
            </a:r>
          </a:p>
          <a:p>
            <a:r>
              <a:t>            # Try to get answer</a:t>
            </a:r>
          </a:p>
          <a:p>
            <a:r>
              <a:t>            answer = await ask_model(model, question)</a:t>
            </a:r>
          </a:p>
          <a:p>
            <a:r>
              <a:t>            return answer  # Success!</a:t>
            </a:r>
          </a:p>
          <a:p/>
          <a:p>
            <a:r>
              <a:t>        except RateLimitError:</a:t>
            </a:r>
          </a:p>
          <a:p>
            <a:r>
              <a:t>            # Hit rate limit - wait and try again</a:t>
            </a:r>
          </a:p>
          <a:p>
            <a:r>
              <a:t>            wait_time = 2 ** attempt  # 2, 4, 8 seconds</a:t>
            </a:r>
          </a:p>
          <a:p>
            <a:r>
              <a:t>            print(f"Rate limited, waiting {wait_time}s...")</a:t>
            </a:r>
          </a:p>
          <a:p>
            <a:r>
              <a:t>            await sleep(wait_time)</a:t>
            </a:r>
          </a:p>
          <a:p>
            <a:r>
              <a:t>            continue  # Try again</a:t>
            </a:r>
          </a:p>
          <a:p/>
          <a:p>
            <a:r>
              <a:t>        except ServerError:</a:t>
            </a:r>
          </a:p>
          <a:p>
            <a:r>
              <a:t>            # Server problem - might be temporary</a:t>
            </a:r>
          </a:p>
          <a:p>
            <a:r>
              <a:t>            if attempt &lt; max_tries - 1:</a:t>
            </a:r>
          </a:p>
          <a:p>
            <a:r>
              <a:t>                await sleep(2 ** attempt)</a:t>
            </a:r>
          </a:p>
          <a:p>
            <a:r>
              <a:t>                continue  # Try again</a:t>
            </a:r>
          </a:p>
          <a:p>
            <a:r>
              <a:t>            else:</a:t>
            </a:r>
          </a:p>
          <a:p>
            <a:r>
              <a:t>                return None  # Gave up after 3 tries</a:t>
            </a:r>
          </a:p>
          <a:p/>
          <a:p>
            <a:r>
              <a:t>        except InvalidRequest:</a:t>
            </a:r>
          </a:p>
          <a:p>
            <a:r>
              <a:t>            # Our request is wrong - retrying won't help</a:t>
            </a:r>
          </a:p>
          <a:p>
            <a:r>
              <a:t>            return None  # Give up immediately</a:t>
            </a:r>
          </a:p>
          <a:p/>
          <a:p>
            <a:r>
              <a:t>    return None  # All tries failed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B3E"/>
                </a:solidFill>
              </a:defRPr>
            </a:pPr>
            <a:r>
              <a:t>Security &amp;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8D4"/>
                </a:solidFill>
              </a:defRPr>
            </a:pPr>
            <a:r>
              <a:t>Keeping Secrets Safe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600"/>
            </a:pPr>
            <a:r>
              <a:t>NEVER put API keys in code (anyone can see them on GitHub!)</a:t>
            </a:r>
          </a:p>
          <a:p>
            <a:pPr>
              <a:spcBef>
                <a:spcPts val="300"/>
              </a:spcBef>
              <a:defRPr sz="1600"/>
            </a:pPr>
            <a:r>
              <a:t>Store in environment variables (separate file, not in code)</a:t>
            </a:r>
          </a:p>
          <a:p>
            <a:pPr>
              <a:spcBef>
                <a:spcPts val="300"/>
              </a:spcBef>
              <a:defRPr sz="1600"/>
            </a:pPr>
            <a:r>
              <a:t>Only let your website talk to the backend (block everyone else)</a:t>
            </a:r>
          </a:p>
          <a:p>
            <a:pPr>
              <a:spcBef>
                <a:spcPts val="300"/>
              </a:spcBef>
              <a:defRPr sz="1600"/>
            </a:pPr>
            <a:r>
              <a:t>Limit how many questions one person can ask (prevent abuse)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8D4"/>
                </a:solidFill>
              </a:defRPr>
            </a:pPr>
            <a:r>
              <a:t>Where to Run This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600"/>
            </a:pPr>
            <a:r>
              <a:t>Option 1: Serverless (AWS Lambda) - Cheapest, auto-scales, but can be slow to start</a:t>
            </a:r>
          </a:p>
          <a:p>
            <a:pPr>
              <a:spcBef>
                <a:spcPts val="300"/>
              </a:spcBef>
              <a:defRPr sz="1600"/>
            </a:pPr>
            <a:r>
              <a:t>Option 2: Container (Docker) - Most control, more complex, runs anywhere</a:t>
            </a:r>
          </a:p>
          <a:p>
            <a:pPr>
              <a:spcBef>
                <a:spcPts val="300"/>
              </a:spcBef>
              <a:defRPr sz="1600"/>
            </a:pPr>
            <a:r>
              <a:t>Option 3: Platform (Heroku) - Easiest, medium cost, less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8D4"/>
                </a:solidFill>
              </a:defRPr>
            </a:pPr>
            <a:r>
              <a:t>Monitoring (Knowing What's Happening)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9476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600"/>
            </a:pPr>
            <a:r>
              <a:t>Track speed: How long does each step take?</a:t>
            </a:r>
          </a:p>
          <a:p>
            <a:pPr>
              <a:spcBef>
                <a:spcPts val="300"/>
              </a:spcBef>
              <a:defRPr sz="1600"/>
            </a:pPr>
            <a:r>
              <a:t>Track errors: How many requests fail? Which models fail most?</a:t>
            </a:r>
          </a:p>
          <a:p>
            <a:pPr>
              <a:spcBef>
                <a:spcPts val="300"/>
              </a:spcBef>
              <a:defRPr sz="1600"/>
            </a:pPr>
            <a:r>
              <a:t>Track costs: How much are we spending on AI models?</a:t>
            </a:r>
          </a:p>
          <a:p>
            <a:pPr>
              <a:spcBef>
                <a:spcPts val="300"/>
              </a:spcBef>
              <a:defRPr sz="1600"/>
            </a:pPr>
            <a:r>
              <a:t>Set alerts: Email me if error rate goes above 5%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B3E"/>
                </a:solidFill>
              </a:defRPr>
            </a:pPr>
            <a:r>
              <a:t>Performance &amp; Future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8D4"/>
                </a:solidFill>
              </a:defRPr>
            </a:pPr>
            <a:r>
              <a:t>Current Performance (Real Numbers)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600"/>
            </a:pPr>
            <a:r>
              <a:t>Step 1 (4 models answer): ~6 seconds</a:t>
            </a:r>
          </a:p>
          <a:p>
            <a:pPr>
              <a:spcBef>
                <a:spcPts val="300"/>
              </a:spcBef>
              <a:defRPr sz="1600"/>
            </a:pPr>
            <a:r>
              <a:t>Step 2 (4 models rank): ~7 seconds</a:t>
            </a:r>
          </a:p>
          <a:p>
            <a:pPr>
              <a:spcBef>
                <a:spcPts val="300"/>
              </a:spcBef>
              <a:defRPr sz="1600"/>
            </a:pPr>
            <a:r>
              <a:t>Step 3 (1 model synthesizes): ~4 seconds</a:t>
            </a:r>
          </a:p>
          <a:p>
            <a:pPr>
              <a:spcBef>
                <a:spcPts val="300"/>
              </a:spcBef>
              <a:defRPr sz="1600"/>
            </a:pPr>
            <a:r>
              <a:t>Total: ~17 seconds per question</a:t>
            </a:r>
          </a:p>
          <a:p>
            <a:pPr>
              <a:spcBef>
                <a:spcPts val="300"/>
              </a:spcBef>
              <a:defRPr sz="1600"/>
            </a:pPr>
            <a:r>
              <a:t>Cost: Less than half a penny per question</a:t>
            </a:r>
          </a:p>
          <a:p>
            <a:pPr>
              <a:spcBef>
                <a:spcPts val="300"/>
              </a:spcBef>
              <a:defRPr sz="1600"/>
            </a:pPr>
            <a:r>
              <a:t>Success rate: 95% (19 out of 20 questions work perfectly)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8D4"/>
                </a:solidFill>
              </a:defRPr>
            </a:pPr>
            <a:r>
              <a:t>Ideas for the Future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600"/>
            </a:pPr>
            <a:r>
              <a:t>Smart model selection: Use simple model for easy questions, all 4 for hard ones</a:t>
            </a:r>
          </a:p>
          <a:p>
            <a:pPr>
              <a:spcBef>
                <a:spcPts val="300"/>
              </a:spcBef>
              <a:defRPr sz="1600"/>
            </a:pPr>
            <a:r>
              <a:t>Learn from history: Track which models give best answers, weight them higher</a:t>
            </a:r>
          </a:p>
          <a:p>
            <a:pPr>
              <a:spcBef>
                <a:spcPts val="300"/>
              </a:spcBef>
              <a:defRPr sz="1600"/>
            </a:pPr>
            <a:r>
              <a:t>Debate mode: Models argue back and forth (not just one round)</a:t>
            </a:r>
          </a:p>
          <a:p>
            <a:pPr>
              <a:spcBef>
                <a:spcPts val="300"/>
              </a:spcBef>
              <a:defRPr sz="1600"/>
            </a:pPr>
            <a:r>
              <a:t>Remember conversations: Currently each question is independent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8D4"/>
                </a:solidFill>
              </a:defRPr>
            </a:pPr>
            <a:r>
              <a:t>Related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9476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600"/>
            </a:pPr>
            <a:r>
              <a:t>Ensemble methods in machine learning (combining multiple models)</a:t>
            </a:r>
          </a:p>
          <a:p>
            <a:pPr>
              <a:spcBef>
                <a:spcPts val="300"/>
              </a:spcBef>
              <a:defRPr sz="1600"/>
            </a:pPr>
            <a:r>
              <a:t>Distributed systems consensus (how computers agree on things)</a:t>
            </a:r>
          </a:p>
          <a:p>
            <a:pPr>
              <a:spcBef>
                <a:spcPts val="300"/>
              </a:spcBef>
              <a:defRPr sz="1600"/>
            </a:pPr>
            <a:r>
              <a:t>Mixture of Experts (AI architecture with specialized sub-models)</a:t>
            </a:r>
          </a:p>
          <a:p>
            <a:pPr>
              <a:spcBef>
                <a:spcPts val="300"/>
              </a:spcBef>
              <a:defRPr sz="1600"/>
            </a:pPr>
            <a:r>
              <a:t>Constitutional AI (having AI critique and improve itself)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297680"/>
            <a:ext cx="8412480" cy="2560320"/>
          </a:xfrm>
          <a:prstGeom prst="rect">
            <a:avLst/>
          </a:prstGeom>
          <a:solidFill>
            <a:srgbClr val="282C34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BB2BF"/>
                </a:solidFill>
                <a:latin typeface="Consolas"/>
              </a:defRPr>
            </a:pPr>
            <a:r>
              <a:t># Real performance data from testing</a:t>
            </a:r>
          </a:p>
          <a:p>
            <a:r>
              <a:t>{</a:t>
            </a:r>
          </a:p>
          <a:p>
            <a:r>
              <a:t>  "step1_time_seconds": 6.2,</a:t>
            </a:r>
          </a:p>
          <a:p>
            <a:r>
              <a:t>  "step2_time_seconds": 7.1,</a:t>
            </a:r>
          </a:p>
          <a:p>
            <a:r>
              <a:t>  "step3_time_seconds": 3.9,</a:t>
            </a:r>
          </a:p>
          <a:p>
            <a:r>
              <a:t>  "total_time_seconds": 17.2,</a:t>
            </a:r>
          </a:p>
          <a:p/>
          <a:p>
            <a:r>
              <a:t>  "total_api_calls": 10,</a:t>
            </a:r>
          </a:p>
          <a:p>
            <a:r>
              <a:t>  "total_tokens_used": 4800,</a:t>
            </a:r>
          </a:p>
          <a:p>
            <a:r>
              <a:t>  "cost_per_question": "$0.0048",</a:t>
            </a:r>
          </a:p>
          <a:p/>
          <a:p>
            <a:r>
              <a:t>  "models_that_worked": 4,</a:t>
            </a:r>
          </a:p>
          <a:p>
            <a:r>
              <a:t>  "models_that_failed": 0,</a:t>
            </a:r>
          </a:p>
          <a:p>
            <a:r>
              <a:t>  "parsing_success_rate": "95%"</a:t>
            </a:r>
          </a:p>
          <a:p>
            <a:r>
              <a:t>}</a:t>
            </a:r>
          </a:p>
          <a:p/>
          <a:p>
            <a:r>
              <a:t># Why 10 API calls?</a:t>
            </a:r>
          </a:p>
          <a:p>
            <a:r>
              <a:t># - 1 for title</a:t>
            </a:r>
          </a:p>
          <a:p>
            <a:r>
              <a:t># - 4 for Step 1 (each model answers)</a:t>
            </a:r>
          </a:p>
          <a:p>
            <a:r>
              <a:t># - 4 for Step 2 (each model ranks)</a:t>
            </a:r>
          </a:p>
          <a:p>
            <a:r>
              <a:t># - 1 for Step 3 (chairman synthesizes)</a:t>
            </a:r>
          </a:p>
          <a:p>
            <a:r>
              <a:t># = 10 total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